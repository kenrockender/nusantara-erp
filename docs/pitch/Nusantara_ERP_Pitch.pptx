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Penjualan</c:v>
                </c:pt>
              </c:strCache>
            </c:strRef>
          </c:tx>
          <c:spPr>
            <a:solidFill>
              <a:srgbClr val="16A34A"/>
            </a:solidFill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Agu</c:v>
                  </c:pt>
                  <c:pt idx="2">
                    <c:v>Sep</c:v>
                  </c:pt>
                  <c:pt idx="3">
                    <c:v>Okt</c:v>
                  </c:pt>
                  <c:pt idx="4">
                    <c:v>Nov</c:v>
                  </c:pt>
                  <c:pt idx="5">
                    <c:v>Des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Mei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</c:v>
                </c:pt>
                <c:pt idx="1">
                  <c:v>24</c:v>
                </c:pt>
                <c:pt idx="2">
                  <c:v>23</c:v>
                </c:pt>
                <c:pt idx="3">
                  <c:v>27</c:v>
                </c:pt>
                <c:pt idx="4">
                  <c:v>29</c:v>
                </c:pt>
                <c:pt idx="5">
                  <c:v>34</c:v>
                </c:pt>
                <c:pt idx="6">
                  <c:v>30</c:v>
                </c:pt>
                <c:pt idx="7">
                  <c:v>33</c:v>
                </c:pt>
                <c:pt idx="8">
                  <c:v>31</c:v>
                </c:pt>
                <c:pt idx="9">
                  <c:v>35</c:v>
                </c:pt>
                <c:pt idx="10">
                  <c:v>28</c:v>
                </c:pt>
                <c:pt idx="11">
                  <c:v>39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Pengeluaran</c:v>
                </c:pt>
              </c:strCache>
            </c:strRef>
          </c:tx>
          <c:spPr>
            <a:solidFill>
              <a:srgbClr val="E8A93B"/>
            </a:solidFill>
            <a:ln w="38100" cap="flat">
              <a:solidFill>
                <a:srgbClr val="E8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93B"/>
              </a:solidFill>
              <a:ln w="9525" cap="flat">
                <a:solidFill>
                  <a:srgbClr val="E8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Agu</c:v>
                  </c:pt>
                  <c:pt idx="2">
                    <c:v>Sep</c:v>
                  </c:pt>
                  <c:pt idx="3">
                    <c:v>Okt</c:v>
                  </c:pt>
                  <c:pt idx="4">
                    <c:v>Nov</c:v>
                  </c:pt>
                  <c:pt idx="5">
                    <c:v>Des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Mei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14</c:v>
                </c:pt>
                <c:pt idx="5">
                  <c:v>17</c:v>
                </c:pt>
                <c:pt idx="6">
                  <c:v>16</c:v>
                </c:pt>
                <c:pt idx="7">
                  <c:v>18</c:v>
                </c:pt>
                <c:pt idx="8">
                  <c:v>16</c:v>
                </c:pt>
                <c:pt idx="9">
                  <c:v>19</c:v>
                </c:pt>
                <c:pt idx="10">
                  <c:v>15</c:v>
                </c:pt>
                <c:pt idx="11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BE7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3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669280" cy="5669280"/>
          </a:xfrm>
          <a:prstGeom prst="ellipse">
            <a:avLst/>
          </a:prstGeom>
          <a:solidFill>
            <a:srgbClr val="115E3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023360" cy="4023360"/>
          </a:xfrm>
          <a:prstGeom prst="ellipse">
            <a:avLst/>
          </a:prstGeom>
          <a:solidFill>
            <a:srgbClr val="16A34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115E3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68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NUSANTARA ERP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ERP modern untuk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seluruh bisnis Anda.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Jualan, pembelian, stok, dan keuangan — dalam satu aplikasi cepat yang tetap jalan tanpa internet dan menyimpan data di perangkat Anda.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68680" y="534924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349240"/>
            <a:ext cx="1202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0" y="5349240"/>
            <a:ext cx="1586484" cy="310896"/>
          </a:xfrm>
          <a:prstGeom prst="roundRect">
            <a:avLst>
              <a:gd name="adj" fmla="val 50000"/>
            </a:avLst>
          </a:prstGeom>
          <a:solidFill>
            <a:srgbClr val="8FD3AC"/>
          </a:solidFill>
          <a:ln/>
        </p:spPr>
      </p:sp>
      <p:sp>
        <p:nvSpPr>
          <p:cNvPr id="12" name="Text 9"/>
          <p:cNvSpPr/>
          <p:nvPr/>
        </p:nvSpPr>
        <p:spPr>
          <a:xfrm>
            <a:off x="2286000" y="5349240"/>
            <a:ext cx="15864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Offline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60520" y="534924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8FD3AC"/>
          </a:solidFill>
          <a:ln/>
        </p:spPr>
      </p:sp>
      <p:sp>
        <p:nvSpPr>
          <p:cNvPr id="14" name="Text 11"/>
          <p:cNvSpPr/>
          <p:nvPr/>
        </p:nvSpPr>
        <p:spPr>
          <a:xfrm>
            <a:off x="4160520" y="534924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Dwibahasa ID / EN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Dipresentasikan oleh: ____________      •      ____ / ____ /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DCF2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Kenapa mengurus bisnis terasa ribet?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560320"/>
            <a:ext cx="868680" cy="86868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77977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6576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Stok tidak sinkron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420624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 dijanjikan ada ke pelanggan, ternyata sudah habis. Catatan dan stok asli sering beda.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214884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560320"/>
            <a:ext cx="868680" cy="86868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277977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36576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Laporan selalu telat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37760" y="420624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untung-rugi dan kas baru ketahuan akhir bulan — keputusan jadi terlambat.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21040" y="214884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0" y="2560320"/>
            <a:ext cx="868680" cy="86868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56" y="277977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36576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tersebar &amp; rawan hilang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86800" y="420624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file Excel terpisah, susah dirangkum, dan bisa hilang kalau perangkat bermasalah.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Terdengar familiar? Ini yang Nusantara ERP selesaikan.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115E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143000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SOLUSINYA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 sekali.
</a:t>
            </a:r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3D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Semua nyambung otomatis.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transaksi mengalir dari penjualan → stok → pengiriman → buku besar → laporan. Tanpa input ulang, tanpa file terpisah.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DCF2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Dari pesanan sampai laporan — satu alur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8176" y="2926080"/>
            <a:ext cx="914400" cy="9144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316382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77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Penjualan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78408" y="43799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sales order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69417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91256" y="260604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30752" y="2926080"/>
            <a:ext cx="914400" cy="9144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3163824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82696" y="3977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Stok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3300984" y="43799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ter-reserve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694176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13832" y="260604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053328" y="2926080"/>
            <a:ext cx="914400" cy="9144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163824"/>
            <a:ext cx="475488" cy="4754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05272" y="3977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Pengiriman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5623560" y="43799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jalan otomatis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3694176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836408" y="260604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8375904" y="2926080"/>
            <a:ext cx="914400" cy="9144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3163824"/>
            <a:ext cx="475488" cy="4754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927848" y="3977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Keuangan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7946136" y="43799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&amp; kas otomatis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3694176"/>
            <a:ext cx="292608" cy="29260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10158984" y="260604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10698480" y="2926080"/>
            <a:ext cx="914400" cy="9144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7936" y="3163824"/>
            <a:ext cx="475488" cy="47548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0250424" y="3977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Laporan</a:t>
            </a:r>
            <a:endParaRPr lang="en-US" sz="1550" dirty="0"/>
          </a:p>
        </p:txBody>
      </p:sp>
      <p:sp>
        <p:nvSpPr>
          <p:cNvPr id="33" name="Text 22"/>
          <p:cNvSpPr/>
          <p:nvPr/>
        </p:nvSpPr>
        <p:spPr>
          <a:xfrm>
            <a:off x="10268712" y="4379976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Export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biasanya butuh beberapa aplikasi dan input berulang — di sini satu kali jalan.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2162556" cy="310896"/>
          </a:xfrm>
          <a:prstGeom prst="roundRect">
            <a:avLst>
              <a:gd name="adj" fmla="val 50000"/>
            </a:avLst>
          </a:prstGeom>
          <a:solidFill>
            <a:srgbClr val="DCF2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21625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APP, SEMUA MODUL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Semua yang Anda butuhkan untuk operasional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212080" cy="1993392"/>
          </a:xfrm>
          <a:prstGeom prst="roundRect">
            <a:avLst>
              <a:gd name="adj" fmla="val 4128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487168"/>
            <a:ext cx="914400" cy="91440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72491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Penjualan &amp; Pembelian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331720" y="29443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Penawaran, order, faktur, surat jalan — alur dokumen terhubung dari quote sampai bayar.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400800" y="2103120"/>
            <a:ext cx="5212080" cy="1993392"/>
          </a:xfrm>
          <a:prstGeom prst="roundRect">
            <a:avLst>
              <a:gd name="adj" fmla="val 4128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2487168"/>
            <a:ext cx="914400" cy="91440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72491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0956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Gudang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909560" y="29443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multi-gudang, penyesuaian, dan retur. Kartu stok selalu cocok dengan buku besar.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822960" y="4389120"/>
            <a:ext cx="5212080" cy="1993392"/>
          </a:xfrm>
          <a:prstGeom prst="roundRect">
            <a:avLst>
              <a:gd name="adj" fmla="val 4128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88720" y="4773168"/>
            <a:ext cx="914400" cy="91440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501091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3172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Buku Besar &amp; Keuangan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2331720" y="52303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Pembukuan double-entry, kas &amp; bank, aset tetap, pajak — terposting otomatis tiap transaksi.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6400800" y="4389120"/>
            <a:ext cx="5212080" cy="1993392"/>
          </a:xfrm>
          <a:prstGeom prst="roundRect">
            <a:avLst>
              <a:gd name="adj" fmla="val 4128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4773168"/>
            <a:ext cx="914400" cy="914400"/>
          </a:xfrm>
          <a:prstGeom prst="ellipse">
            <a:avLst/>
          </a:prstGeom>
          <a:solidFill>
            <a:srgbClr val="0B3D2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501091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Laporan &amp; Export</a:t>
            </a:r>
            <a:endParaRPr lang="en-US" sz="1750" dirty="0"/>
          </a:p>
        </p:txBody>
      </p:sp>
      <p:sp>
        <p:nvSpPr>
          <p:cNvPr id="24" name="Text 18"/>
          <p:cNvSpPr/>
          <p:nvPr/>
        </p:nvSpPr>
        <p:spPr>
          <a:xfrm>
            <a:off x="7909560" y="52303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rugi, neraca, arus kas. Export ke Excel dan import data kapan pun perlu.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023360"/>
            <a:ext cx="4754880" cy="4754880"/>
          </a:xfrm>
          <a:prstGeom prst="ellipse">
            <a:avLst/>
          </a:prstGeom>
          <a:solidFill>
            <a:srgbClr val="115E3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1490472" cy="310896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BERBEDA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Dibangun di atas prinsip yang benar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janji kosong — hanya hal yang memang benar tentang aplikasi ini.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115E3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2770632"/>
            <a:ext cx="868680" cy="868680"/>
          </a:xfrm>
          <a:prstGeom prst="ellipse">
            <a:avLst/>
          </a:prstGeom>
          <a:solidFill>
            <a:srgbClr val="DCF2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990088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40280" y="2679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Local-first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240280" y="31363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Anda tersimpan di perangkat sendiri — aman dan milik Anda.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233172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115E3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48272" y="2770632"/>
            <a:ext cx="868680" cy="868680"/>
          </a:xfrm>
          <a:prstGeom prst="ellipse">
            <a:avLst/>
          </a:prstGeom>
          <a:solidFill>
            <a:srgbClr val="DCF2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990088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18120" y="2679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Bekerja offline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818120" y="31363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penuh yang bisa di-install (PWA). Internet mati tetap jalan.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438912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115E3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170432" y="4828032"/>
            <a:ext cx="868680" cy="868680"/>
          </a:xfrm>
          <a:prstGeom prst="ellipse">
            <a:avLst/>
          </a:prstGeom>
          <a:solidFill>
            <a:srgbClr val="DCF2E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047488"/>
            <a:ext cx="429768" cy="429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40280" y="47365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Dwibahasa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240280" y="51937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Bahasa Indonesia &amp; Inggris, tinggal pilih.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0" y="438912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115E3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48272" y="4828032"/>
            <a:ext cx="868680" cy="868680"/>
          </a:xfrm>
          <a:prstGeom prst="ellipse">
            <a:avLst/>
          </a:prstGeom>
          <a:solidFill>
            <a:srgbClr val="DCF2E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5047488"/>
            <a:ext cx="429768" cy="4297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18120" y="47365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&amp; kunci periode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818120" y="51937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perubahan + cek buku besar. Angka tidak bisa diubah diam-diam.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490472" cy="310896"/>
          </a:xfrm>
          <a:prstGeom prst="roundRect">
            <a:avLst>
              <a:gd name="adj" fmla="val 50000"/>
            </a:avLst>
          </a:prstGeom>
          <a:solidFill>
            <a:srgbClr val="DCF2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NYATA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Langsung kelihatan kondisi bisnis hari ini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B3D2B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 412 jt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69848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 (12 bln)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12,4%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B3D2B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690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1.284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087368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87368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6,1%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0116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B3D2B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 201 jt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04888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Piutang beredar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04888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Terpantau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 penjualan vs pengeluaran (juta Rp)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77240" y="4297680"/>
          <a:ext cx="10607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DCF2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PAKET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Mulai sesuai kebutuhan Anda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6974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Coba Gratis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320040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 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07008" y="386791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demo siap pakai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437083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9616" y="43434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semua modul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4754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9616" y="47274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contoh siap dieksplor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513892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99616" y="511149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instalasi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0" y="205740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0B3D2B"/>
          </a:solidFill>
          <a:ln w="12700">
            <a:solidFill>
              <a:srgbClr val="0B3D2B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28232" y="2313432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/>
        </p:spPr>
      </p:sp>
      <p:sp>
        <p:nvSpPr>
          <p:cNvPr id="17" name="Text 12"/>
          <p:cNvSpPr/>
          <p:nvPr/>
        </p:nvSpPr>
        <p:spPr>
          <a:xfrm>
            <a:off x="6428232" y="2313432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DISARANKAN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937760" y="26974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1 Bulan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937760" y="320040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 —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4956048" y="386791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bulan  • didampingi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37083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48656" y="43434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data bisnis Anda</a:t>
            </a:r>
            <a:endParaRPr lang="en-US" sz="12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75488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48656" y="47274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setup &amp; migrasi</a:t>
            </a:r>
            <a:endParaRPr lang="en-US" sz="12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513892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48656" y="511149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Pendampingan penuh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8321040" y="205740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F3F8F5"/>
          </a:solidFill>
          <a:ln w="12700">
            <a:solidFill>
              <a:srgbClr val="DBE7E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686800" y="26974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Langganan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8686800" y="320040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 —</a:t>
            </a:r>
            <a:endParaRPr lang="en-US" sz="3400" dirty="0"/>
          </a:p>
        </p:txBody>
      </p:sp>
      <p:sp>
        <p:nvSpPr>
          <p:cNvPr id="30" name="Text 22"/>
          <p:cNvSpPr/>
          <p:nvPr/>
        </p:nvSpPr>
        <p:spPr>
          <a:xfrm>
            <a:off x="8705088" y="386791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bulan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437083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997696" y="43434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Pemakaian penuh jangka panjang</a:t>
            </a:r>
            <a:endParaRPr lang="en-US" sz="12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475488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997696" y="47274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dukungan</a:t>
            </a:r>
            <a:endParaRPr lang="en-US" sz="12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088" y="513892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997696" y="511149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terjadwal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Sesuaikan angka harga (Rp —) dengan paket dan margin Anda sebelum presentasi.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5E3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937760" cy="493776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09728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Siap rapikan pembukuan Anda?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gratis hari ini, atau mulai pilot 1 bulan dengan data bisnis Anda — saya bantu setup-nya dari awal.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6583680" cy="1737360"/>
          </a:xfrm>
          <a:prstGeom prst="roundRect">
            <a:avLst>
              <a:gd name="adj" fmla="val 5263"/>
            </a:avLst>
          </a:prstGeom>
          <a:solidFill>
            <a:srgbClr val="115E3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42976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Hubungi: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26680" y="41148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8100000">
              <a:srgbClr val="0B3D2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Coba demo sekarang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admin@nusantara.local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Sandi: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admin123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Nusantara ERP — Pitch</dc:title>
  <dc:subject>PptxGenJS Presentation</dc:subject>
  <dc:creator>Nusantara ERP</dc:creator>
  <cp:lastModifiedBy>Nusantara ERP</cp:lastModifiedBy>
  <cp:revision>1</cp:revision>
  <dcterms:created xsi:type="dcterms:W3CDTF">2026-06-14T05:26:20Z</dcterms:created>
  <dcterms:modified xsi:type="dcterms:W3CDTF">2026-06-14T05:26:20Z</dcterms:modified>
</cp:coreProperties>
</file>